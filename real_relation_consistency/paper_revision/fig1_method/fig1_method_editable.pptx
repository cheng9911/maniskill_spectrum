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34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shapes, labels and curve paths are editable. Source-response curves use archived Pdiag finite data; other paths/geometry are schematic. See provenance.json and figure caption. No hardware results illustrated.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180000"/>
            <a:ext cx="0" cy="2988000"/>
          </a:xfrm>
          <a:custGeom>
            <a:avLst/>
            <a:gdLst/>
            <a:ahLst/>
            <a:cxnLst/>
            <a:rect l="l" t="t" r="r" b="b"/>
            <a:pathLst>
              <a:path w="0" h="2988000">
                <a:moveTo>
                  <a:pt x="0" y="0"/>
                </a:moveTo>
                <a:lnTo>
                  <a:pt x="0" y="2988000"/>
                </a:lnTo>
              </a:path>
            </a:pathLst>
          </a:custGeom>
          <a:noFill/>
          <a:ln w="762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284000" y="180000"/>
            <a:ext cx="0" cy="2988000"/>
          </a:xfrm>
          <a:custGeom>
            <a:avLst/>
            <a:gdLst/>
            <a:ahLst/>
            <a:cxnLst/>
            <a:rect l="l" t="t" r="r" b="b"/>
            <a:pathLst>
              <a:path w="0" h="2988000">
                <a:moveTo>
                  <a:pt x="0" y="0"/>
                </a:moveTo>
                <a:lnTo>
                  <a:pt x="0" y="2988000"/>
                </a:lnTo>
              </a:path>
            </a:pathLst>
          </a:custGeom>
          <a:noFill/>
          <a:ln w="762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" y="54000"/>
            <a:ext cx="1980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43442"/>
                </a:solidFill>
                <a:latin typeface="DejaVu Sans"/>
              </a:rPr>
              <a:t>a  Why generator-level relevance?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000" y="54000"/>
            <a:ext cx="1944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43442"/>
                </a:solidFill>
                <a:latin typeface="DejaVu Sans"/>
              </a:rPr>
              <a:t>b  Identify from interventions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4000" y="54000"/>
            <a:ext cx="1908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43442"/>
                </a:solidFill>
                <a:latin typeface="DejaVu Sans"/>
              </a:rPr>
              <a:t>c  Freeze and 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" y="342000"/>
            <a:ext cx="1944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243442"/>
                </a:solidFill>
                <a:latin typeface="DejaVu Sans"/>
              </a:rPr>
              <a:t>One relation; constraints change by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000" y="342000"/>
            <a:ext cx="1944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243442"/>
                </a:solidFill>
                <a:latin typeface="DejaVu Sans"/>
              </a:rPr>
              <a:t>Vary the relation; observe the response.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4000" y="342000"/>
            <a:ext cx="1908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243442"/>
                </a:solidFill>
                <a:latin typeface="DejaVu Sans"/>
              </a:rPr>
              <a:t>Reuse the law with target geometry.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548000"/>
            <a:ext cx="144000" cy="540000"/>
          </a:xfrm>
          <a:prstGeom prst="rect">
            <a:avLst/>
          </a:prstGeom>
          <a:solidFill>
            <a:srgbClr val="86AAA5"/>
          </a:solidFill>
          <a:ln w="8255">
            <a:solidFill>
              <a:srgbClr val="537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6000" y="1548000"/>
            <a:ext cx="144000" cy="540000"/>
          </a:xfrm>
          <a:prstGeom prst="rect">
            <a:avLst/>
          </a:prstGeom>
          <a:solidFill>
            <a:srgbClr val="86AAA5"/>
          </a:solidFill>
          <a:ln w="8255">
            <a:solidFill>
              <a:srgbClr val="537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2000" y="1440000"/>
            <a:ext cx="180000" cy="108000"/>
          </a:xfrm>
          <a:prstGeom prst="rect">
            <a:avLst/>
          </a:prstGeom>
          <a:solidFill>
            <a:srgbClr val="93A1BC"/>
          </a:solidFill>
          <a:ln w="8255">
            <a:solidFill>
              <a:srgbClr val="667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0000" y="1440000"/>
            <a:ext cx="180000" cy="108000"/>
          </a:xfrm>
          <a:prstGeom prst="rect">
            <a:avLst/>
          </a:prstGeom>
          <a:solidFill>
            <a:srgbClr val="93A1BC"/>
          </a:solidFill>
          <a:ln w="8255">
            <a:solidFill>
              <a:srgbClr val="667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000" y="756000"/>
            <a:ext cx="144000" cy="504000"/>
          </a:xfrm>
          <a:prstGeom prst="rect">
            <a:avLst/>
          </a:prstGeom>
          <a:solidFill>
            <a:srgbClr val="E7A486"/>
          </a:solidFill>
          <a:ln w="8255">
            <a:solidFill>
              <a:srgbClr val="B96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0000" y="1260000"/>
            <a:ext cx="252000" cy="108000"/>
          </a:xfrm>
          <a:prstGeom prst="rect">
            <a:avLst/>
          </a:prstGeom>
          <a:solidFill>
            <a:srgbClr val="D97E58"/>
          </a:solidFill>
          <a:ln w="8255">
            <a:solidFill>
              <a:srgbClr val="B96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36000" y="900000"/>
            <a:ext cx="0" cy="216000"/>
          </a:xfrm>
          <a:custGeom>
            <a:avLst/>
            <a:gdLst/>
            <a:ahLst/>
            <a:cxnLst/>
            <a:rect l="l" t="t" r="r" b="b"/>
            <a:pathLst>
              <a:path w="0" h="216000">
                <a:moveTo>
                  <a:pt x="0" y="0"/>
                </a:moveTo>
                <a:lnTo>
                  <a:pt x="0" y="216000"/>
                </a:lnTo>
              </a:path>
            </a:pathLst>
          </a:custGeom>
          <a:noFill/>
          <a:ln w="10160">
            <a:solidFill>
              <a:srgbClr val="0072B2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80000" y="1548000"/>
            <a:ext cx="792000" cy="0"/>
          </a:xfrm>
          <a:custGeom>
            <a:avLst/>
            <a:gdLst/>
            <a:ahLst/>
            <a:cxnLst/>
            <a:rect l="l" t="t" r="r" b="b"/>
            <a:pathLst>
              <a:path w="792000" h="0">
                <a:moveTo>
                  <a:pt x="0" y="0"/>
                </a:moveTo>
                <a:lnTo>
                  <a:pt x="792000" y="0"/>
                </a:lnTo>
              </a:path>
            </a:pathLst>
          </a:custGeom>
          <a:noFill/>
          <a:ln w="6350">
            <a:solidFill>
              <a:srgbClr val="7481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60000" y="1548000"/>
            <a:ext cx="144000" cy="540000"/>
          </a:xfrm>
          <a:prstGeom prst="rect">
            <a:avLst/>
          </a:prstGeom>
          <a:solidFill>
            <a:srgbClr val="86AAA5"/>
          </a:solidFill>
          <a:ln w="8255">
            <a:solidFill>
              <a:srgbClr val="537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4000" y="1548000"/>
            <a:ext cx="144000" cy="540000"/>
          </a:xfrm>
          <a:prstGeom prst="rect">
            <a:avLst/>
          </a:prstGeom>
          <a:solidFill>
            <a:srgbClr val="86AAA5"/>
          </a:solidFill>
          <a:ln w="8255">
            <a:solidFill>
              <a:srgbClr val="537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60000" y="1440000"/>
            <a:ext cx="180000" cy="108000"/>
          </a:xfrm>
          <a:prstGeom prst="rect">
            <a:avLst/>
          </a:prstGeom>
          <a:solidFill>
            <a:srgbClr val="93A1BC"/>
          </a:solidFill>
          <a:ln w="8255">
            <a:solidFill>
              <a:srgbClr val="667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28000" y="1440000"/>
            <a:ext cx="180000" cy="108000"/>
          </a:xfrm>
          <a:prstGeom prst="rect">
            <a:avLst/>
          </a:prstGeom>
          <a:solidFill>
            <a:srgbClr val="93A1BC"/>
          </a:solidFill>
          <a:ln w="8255">
            <a:solidFill>
              <a:srgbClr val="667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12000" y="1260000"/>
            <a:ext cx="144000" cy="504000"/>
          </a:xfrm>
          <a:prstGeom prst="rect">
            <a:avLst/>
          </a:prstGeom>
          <a:solidFill>
            <a:srgbClr val="E7A486"/>
          </a:solidFill>
          <a:ln w="8255">
            <a:solidFill>
              <a:srgbClr val="B96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58000" y="1764000"/>
            <a:ext cx="252000" cy="108000"/>
          </a:xfrm>
          <a:prstGeom prst="rect">
            <a:avLst/>
          </a:prstGeom>
          <a:solidFill>
            <a:srgbClr val="D97E58"/>
          </a:solidFill>
          <a:ln w="8255">
            <a:solidFill>
              <a:srgbClr val="B96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944000" y="900000"/>
            <a:ext cx="0" cy="216000"/>
          </a:xfrm>
          <a:custGeom>
            <a:avLst/>
            <a:gdLst/>
            <a:ahLst/>
            <a:cxnLst/>
            <a:rect l="l" t="t" r="r" b="b"/>
            <a:pathLst>
              <a:path w="0" h="216000">
                <a:moveTo>
                  <a:pt x="0" y="0"/>
                </a:moveTo>
                <a:lnTo>
                  <a:pt x="0" y="216000"/>
                </a:lnTo>
              </a:path>
            </a:pathLst>
          </a:custGeom>
          <a:noFill/>
          <a:ln w="10160">
            <a:solidFill>
              <a:srgbClr val="0072B2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188000" y="1548000"/>
            <a:ext cx="792000" cy="0"/>
          </a:xfrm>
          <a:custGeom>
            <a:avLst/>
            <a:gdLst/>
            <a:ahLst/>
            <a:cxnLst/>
            <a:rect l="l" t="t" r="r" b="b"/>
            <a:pathLst>
              <a:path w="792000" h="0">
                <a:moveTo>
                  <a:pt x="0" y="0"/>
                </a:moveTo>
                <a:lnTo>
                  <a:pt x="792000" y="0"/>
                </a:lnTo>
              </a:path>
            </a:pathLst>
          </a:custGeom>
          <a:noFill/>
          <a:ln w="6350">
            <a:solidFill>
              <a:srgbClr val="7481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000" y="630000"/>
            <a:ext cx="936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243442"/>
                </a:solidFill>
                <a:latin typeface="DejaVu Sans"/>
              </a:rPr>
              <a:t>Before clearance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6000" y="630000"/>
            <a:ext cx="936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243442"/>
                </a:solidFill>
                <a:latin typeface="DejaVu Sans"/>
              </a:rPr>
              <a:t>After clearance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00" y="2106000"/>
            <a:ext cx="972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243442"/>
                </a:solidFill>
                <a:latin typeface="DejaVu Sans"/>
              </a:rPr>
              <a:t>Yaw constrained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8000" y="2106000"/>
            <a:ext cx="972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243442"/>
                </a:solidFill>
                <a:latin typeface="DejaVu Sans"/>
              </a:rPr>
              <a:t>Yaw admissible</a:t>
            </a:r>
          </a:p>
        </p:txBody>
      </p:sp>
      <p:sp>
        <p:nvSpPr>
          <p:cNvPr id="30" name="Freeform 29"/>
          <p:cNvSpPr/>
          <p:nvPr/>
        </p:nvSpPr>
        <p:spPr>
          <a:xfrm>
            <a:off x="1008000" y="1584000"/>
            <a:ext cx="108000" cy="0"/>
          </a:xfrm>
          <a:custGeom>
            <a:avLst/>
            <a:gdLst/>
            <a:ahLst/>
            <a:cxnLst/>
            <a:rect l="l" t="t" r="r" b="b"/>
            <a:pathLst>
              <a:path w="108000" h="0">
                <a:moveTo>
                  <a:pt x="0" y="0"/>
                </a:moveTo>
                <a:lnTo>
                  <a:pt x="108000" y="0"/>
                </a:lnTo>
              </a:path>
            </a:pathLst>
          </a:custGeom>
          <a:noFill/>
          <a:ln w="10160">
            <a:solidFill>
              <a:srgbClr val="74818C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4000" y="2502000"/>
            <a:ext cx="1944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243442"/>
                </a:solidFill>
                <a:latin typeface="DejaVu Sans"/>
              </a:rPr>
              <a:t>Position alignment remains required.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000" y="2700000"/>
            <a:ext cx="1944000" cy="28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243442"/>
                </a:solidFill>
                <a:latin typeface="DejaVu Sans"/>
              </a:rPr>
              <a:t>Admissible yaw does not force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243442"/>
                </a:solidFill>
                <a:latin typeface="DejaVu Sans"/>
              </a:rPr>
              <a:t>a zero demonstrated yaw response.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84000" y="864000"/>
            <a:ext cx="324000" cy="252000"/>
          </a:xfrm>
          <a:prstGeom prst="rect">
            <a:avLst/>
          </a:prstGeom>
          <a:solidFill>
            <a:srgbClr val="F1F4F6"/>
          </a:solidFill>
          <a:ln w="8890">
            <a:solidFill>
              <a:srgbClr val="74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592000" y="918000"/>
            <a:ext cx="108000" cy="72000"/>
          </a:xfrm>
          <a:prstGeom prst="ellipse">
            <a:avLst/>
          </a:prstGeom>
          <a:solidFill>
            <a:srgbClr val="FFFFFF"/>
          </a:solidFill>
          <a:ln w="8255">
            <a:solidFill>
              <a:srgbClr val="74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22000" y="1242000"/>
            <a:ext cx="648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243442"/>
                </a:solidFill>
                <a:latin typeface="DejaVu Sans"/>
              </a:rPr>
              <a:t>Nominal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32000" y="864000"/>
            <a:ext cx="324000" cy="252000"/>
          </a:xfrm>
          <a:prstGeom prst="rect">
            <a:avLst/>
          </a:prstGeom>
          <a:solidFill>
            <a:srgbClr val="F1F4F6"/>
          </a:solidFill>
          <a:ln w="8890">
            <a:solidFill>
              <a:srgbClr val="74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40000" y="918000"/>
            <a:ext cx="108000" cy="72000"/>
          </a:xfrm>
          <a:prstGeom prst="ellipse">
            <a:avLst/>
          </a:prstGeom>
          <a:solidFill>
            <a:srgbClr val="FFFFFF"/>
          </a:solidFill>
          <a:ln w="8255">
            <a:solidFill>
              <a:srgbClr val="74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096000" y="1224000"/>
            <a:ext cx="396000" cy="0"/>
          </a:xfrm>
          <a:custGeom>
            <a:avLst/>
            <a:gdLst/>
            <a:ahLst/>
            <a:cxnLst/>
            <a:rect l="l" t="t" r="r" b="b"/>
            <a:pathLst>
              <a:path w="396000" h="0">
                <a:moveTo>
                  <a:pt x="0" y="0"/>
                </a:moveTo>
                <a:lnTo>
                  <a:pt x="396000" y="0"/>
                </a:lnTo>
              </a:path>
            </a:pathLst>
          </a:custGeom>
          <a:noFill/>
          <a:ln w="10160">
            <a:solidFill>
              <a:srgbClr val="0072B2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70000" y="1242000"/>
            <a:ext cx="648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243442"/>
                </a:solidFill>
                <a:latin typeface="DejaVu Sans"/>
              </a:rPr>
              <a:t>Translate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80000" y="864000"/>
            <a:ext cx="324000" cy="252000"/>
          </a:xfrm>
          <a:prstGeom prst="rect">
            <a:avLst/>
          </a:prstGeom>
          <a:solidFill>
            <a:srgbClr val="F1F4F6"/>
          </a:solidFill>
          <a:ln w="8890">
            <a:solidFill>
              <a:srgbClr val="74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888000" y="918000"/>
            <a:ext cx="108000" cy="72000"/>
          </a:xfrm>
          <a:prstGeom prst="ellipse">
            <a:avLst/>
          </a:prstGeom>
          <a:solidFill>
            <a:srgbClr val="FFFFFF"/>
          </a:solidFill>
          <a:ln w="8255">
            <a:solidFill>
              <a:srgbClr val="74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3726007" y="810301"/>
            <a:ext cx="368728" cy="359200"/>
          </a:xfrm>
          <a:custGeom>
            <a:avLst/>
            <a:gdLst/>
            <a:ahLst/>
            <a:cxnLst/>
            <a:rect l="l" t="t" r="r" b="b"/>
            <a:pathLst>
              <a:path w="368728" h="359200">
                <a:moveTo>
                  <a:pt x="368728" y="306978"/>
                </a:moveTo>
                <a:lnTo>
                  <a:pt x="332634" y="331197"/>
                </a:lnTo>
                <a:lnTo>
                  <a:pt x="291172" y="348444"/>
                </a:lnTo>
                <a:lnTo>
                  <a:pt x="246250" y="357924"/>
                </a:lnTo>
                <a:lnTo>
                  <a:pt x="199936" y="359200"/>
                </a:lnTo>
                <a:lnTo>
                  <a:pt x="154360" y="352215"/>
                </a:lnTo>
                <a:lnTo>
                  <a:pt x="111621" y="337290"/>
                </a:lnTo>
                <a:lnTo>
                  <a:pt x="73686" y="315111"/>
                </a:lnTo>
                <a:lnTo>
                  <a:pt x="42300" y="286700"/>
                </a:lnTo>
                <a:lnTo>
                  <a:pt x="18910" y="253364"/>
                </a:lnTo>
                <a:lnTo>
                  <a:pt x="4590" y="216637"/>
                </a:lnTo>
                <a:lnTo>
                  <a:pt x="0" y="178210"/>
                </a:lnTo>
                <a:lnTo>
                  <a:pt x="5351" y="139852"/>
                </a:lnTo>
                <a:lnTo>
                  <a:pt x="20398" y="103328"/>
                </a:lnTo>
                <a:lnTo>
                  <a:pt x="44447" y="70318"/>
                </a:lnTo>
                <a:lnTo>
                  <a:pt x="76392" y="42343"/>
                </a:lnTo>
                <a:lnTo>
                  <a:pt x="114762" y="20690"/>
                </a:lnTo>
                <a:lnTo>
                  <a:pt x="157791" y="6356"/>
                </a:lnTo>
                <a:lnTo>
                  <a:pt x="203499" y="0"/>
                </a:lnTo>
                <a:lnTo>
                  <a:pt x="249782" y="1915"/>
                </a:lnTo>
              </a:path>
            </a:pathLst>
          </a:custGeom>
          <a:noFill/>
          <a:ln w="10160">
            <a:solidFill>
              <a:srgbClr val="C65A29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18000" y="1242000"/>
            <a:ext cx="648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243442"/>
                </a:solidFill>
                <a:latin typeface="DejaVu Sans"/>
              </a:rPr>
              <a:t>Rotate</a:t>
            </a:r>
          </a:p>
        </p:txBody>
      </p:sp>
      <p:sp>
        <p:nvSpPr>
          <p:cNvPr id="44" name="Freeform 43"/>
          <p:cNvSpPr/>
          <p:nvPr/>
        </p:nvSpPr>
        <p:spPr>
          <a:xfrm>
            <a:off x="3240000" y="1512000"/>
            <a:ext cx="0" cy="144000"/>
          </a:xfrm>
          <a:custGeom>
            <a:avLst/>
            <a:gdLst/>
            <a:ahLst/>
            <a:cxnLst/>
            <a:rect l="l" t="t" r="r" b="b"/>
            <a:pathLst>
              <a:path w="0" h="144000">
                <a:moveTo>
                  <a:pt x="0" y="0"/>
                </a:moveTo>
                <a:lnTo>
                  <a:pt x="0" y="144000"/>
                </a:lnTo>
              </a:path>
            </a:pathLst>
          </a:custGeom>
          <a:noFill/>
          <a:ln w="10160">
            <a:solidFill>
              <a:srgbClr val="74818C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04000" y="1674000"/>
            <a:ext cx="1872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43442"/>
                </a:solidFill>
                <a:latin typeface="DejaVu Sans"/>
              </a:rPr>
              <a:t>P(s) = diag[α₁(s), …, αd(s)]</a:t>
            </a:r>
          </a:p>
        </p:txBody>
      </p:sp>
      <p:sp>
        <p:nvSpPr>
          <p:cNvPr id="46" name="Freeform 45"/>
          <p:cNvSpPr/>
          <p:nvPr/>
        </p:nvSpPr>
        <p:spPr>
          <a:xfrm>
            <a:off x="2484000" y="2016000"/>
            <a:ext cx="1584000" cy="792000"/>
          </a:xfrm>
          <a:custGeom>
            <a:avLst/>
            <a:gdLst/>
            <a:ahLst/>
            <a:cxnLst/>
            <a:rect l="l" t="t" r="r" b="b"/>
            <a:pathLst>
              <a:path w="1584000" h="792000">
                <a:moveTo>
                  <a:pt x="0" y="0"/>
                </a:moveTo>
                <a:lnTo>
                  <a:pt x="0" y="792000"/>
                </a:lnTo>
                <a:lnTo>
                  <a:pt x="1584000" y="792000"/>
                </a:lnTo>
              </a:path>
            </a:pathLst>
          </a:custGeom>
          <a:noFill/>
          <a:ln w="8255">
            <a:solidFill>
              <a:srgbClr val="24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484000" y="2808000"/>
            <a:ext cx="1584000" cy="0"/>
          </a:xfrm>
          <a:custGeom>
            <a:avLst/>
            <a:gdLst/>
            <a:ahLst/>
            <a:cxnLst/>
            <a:rect l="l" t="t" r="r" b="b"/>
            <a:pathLst>
              <a:path w="1584000" h="0">
                <a:moveTo>
                  <a:pt x="0" y="0"/>
                </a:moveTo>
                <a:lnTo>
                  <a:pt x="1584000" y="0"/>
                </a:lnTo>
              </a:path>
            </a:pathLst>
          </a:custGeom>
          <a:noFill/>
          <a:ln w="5080">
            <a:solidFill>
              <a:srgbClr val="CCD3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32000" y="2718000"/>
            <a:ext cx="180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43442"/>
                </a:solidFill>
                <a:latin typeface="DejaVu Sans"/>
              </a:rPr>
              <a:t>0</a:t>
            </a:r>
          </a:p>
        </p:txBody>
      </p:sp>
      <p:sp>
        <p:nvSpPr>
          <p:cNvPr id="49" name="Freeform 48"/>
          <p:cNvSpPr/>
          <p:nvPr/>
        </p:nvSpPr>
        <p:spPr>
          <a:xfrm>
            <a:off x="2484000" y="2181913"/>
            <a:ext cx="1584000" cy="0"/>
          </a:xfrm>
          <a:custGeom>
            <a:avLst/>
            <a:gdLst/>
            <a:ahLst/>
            <a:cxnLst/>
            <a:rect l="l" t="t" r="r" b="b"/>
            <a:pathLst>
              <a:path w="1584000" h="0">
                <a:moveTo>
                  <a:pt x="0" y="0"/>
                </a:moveTo>
                <a:lnTo>
                  <a:pt x="1584000" y="0"/>
                </a:lnTo>
              </a:path>
            </a:pathLst>
          </a:custGeom>
          <a:noFill/>
          <a:ln w="5080">
            <a:solidFill>
              <a:srgbClr val="CCD3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32000" y="2091913"/>
            <a:ext cx="180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43442"/>
                </a:solidFill>
                <a:latin typeface="DejaVu Sans"/>
              </a:rPr>
              <a:t>1</a:t>
            </a:r>
          </a:p>
        </p:txBody>
      </p:sp>
      <p:sp>
        <p:nvSpPr>
          <p:cNvPr id="51" name="Freeform 50"/>
          <p:cNvSpPr/>
          <p:nvPr/>
        </p:nvSpPr>
        <p:spPr>
          <a:xfrm>
            <a:off x="2880000" y="2016000"/>
            <a:ext cx="0" cy="792000"/>
          </a:xfrm>
          <a:custGeom>
            <a:avLst/>
            <a:gdLst/>
            <a:ahLst/>
            <a:cxnLst/>
            <a:rect l="l" t="t" r="r" b="b"/>
            <a:pathLst>
              <a:path w="0" h="792000">
                <a:moveTo>
                  <a:pt x="0" y="0"/>
                </a:moveTo>
                <a:lnTo>
                  <a:pt x="0" y="792000"/>
                </a:lnTo>
              </a:path>
            </a:pathLst>
          </a:custGeom>
          <a:noFill/>
          <a:ln w="5715">
            <a:solidFill>
              <a:srgbClr val="D9DEE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3276000" y="2016000"/>
            <a:ext cx="0" cy="792000"/>
          </a:xfrm>
          <a:custGeom>
            <a:avLst/>
            <a:gdLst/>
            <a:ahLst/>
            <a:cxnLst/>
            <a:rect l="l" t="t" r="r" b="b"/>
            <a:pathLst>
              <a:path w="0" h="792000">
                <a:moveTo>
                  <a:pt x="0" y="0"/>
                </a:moveTo>
                <a:lnTo>
                  <a:pt x="0" y="792000"/>
                </a:lnTo>
              </a:path>
            </a:pathLst>
          </a:custGeom>
          <a:noFill/>
          <a:ln w="5715">
            <a:solidFill>
              <a:srgbClr val="D9DEE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3672000" y="2016000"/>
            <a:ext cx="0" cy="792000"/>
          </a:xfrm>
          <a:custGeom>
            <a:avLst/>
            <a:gdLst/>
            <a:ahLst/>
            <a:cxnLst/>
            <a:rect l="l" t="t" r="r" b="b"/>
            <a:pathLst>
              <a:path w="0" h="792000">
                <a:moveTo>
                  <a:pt x="0" y="0"/>
                </a:moveTo>
                <a:lnTo>
                  <a:pt x="0" y="792000"/>
                </a:lnTo>
              </a:path>
            </a:pathLst>
          </a:custGeom>
          <a:noFill/>
          <a:ln w="5715">
            <a:solidFill>
              <a:srgbClr val="D9DEE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2484000" y="2173205"/>
            <a:ext cx="1584000" cy="627634"/>
          </a:xfrm>
          <a:custGeom>
            <a:avLst/>
            <a:gdLst/>
            <a:ahLst/>
            <a:cxnLst/>
            <a:rect l="l" t="t" r="r" b="b"/>
            <a:pathLst>
              <a:path w="1584000" h="627634">
                <a:moveTo>
                  <a:pt x="0" y="627634"/>
                </a:moveTo>
                <a:lnTo>
                  <a:pt x="16000" y="623957"/>
                </a:lnTo>
                <a:lnTo>
                  <a:pt x="32000" y="616386"/>
                </a:lnTo>
                <a:lnTo>
                  <a:pt x="48000" y="600980"/>
                </a:lnTo>
                <a:lnTo>
                  <a:pt x="64000" y="574176"/>
                </a:lnTo>
                <a:lnTo>
                  <a:pt x="80000" y="536611"/>
                </a:lnTo>
                <a:lnTo>
                  <a:pt x="96000" y="492323"/>
                </a:lnTo>
                <a:lnTo>
                  <a:pt x="112000" y="444516"/>
                </a:lnTo>
                <a:lnTo>
                  <a:pt x="128000" y="393580"/>
                </a:lnTo>
                <a:lnTo>
                  <a:pt x="144000" y="338078"/>
                </a:lnTo>
                <a:lnTo>
                  <a:pt x="160000" y="277292"/>
                </a:lnTo>
                <a:lnTo>
                  <a:pt x="176000" y="213774"/>
                </a:lnTo>
                <a:lnTo>
                  <a:pt x="192000" y="153473"/>
                </a:lnTo>
                <a:lnTo>
                  <a:pt x="208000" y="102774"/>
                </a:lnTo>
                <a:lnTo>
                  <a:pt x="224000" y="65382"/>
                </a:lnTo>
                <a:lnTo>
                  <a:pt x="240000" y="41542"/>
                </a:lnTo>
                <a:lnTo>
                  <a:pt x="256000" y="28951"/>
                </a:lnTo>
                <a:lnTo>
                  <a:pt x="272000" y="23975"/>
                </a:lnTo>
                <a:lnTo>
                  <a:pt x="288000" y="22706"/>
                </a:lnTo>
                <a:lnTo>
                  <a:pt x="304000" y="21906"/>
                </a:lnTo>
                <a:lnTo>
                  <a:pt x="320000" y="19710"/>
                </a:lnTo>
                <a:lnTo>
                  <a:pt x="336000" y="15775"/>
                </a:lnTo>
                <a:lnTo>
                  <a:pt x="352000" y="10851"/>
                </a:lnTo>
                <a:lnTo>
                  <a:pt x="368000" y="6091"/>
                </a:lnTo>
                <a:lnTo>
                  <a:pt x="384000" y="2516"/>
                </a:lnTo>
                <a:lnTo>
                  <a:pt x="400000" y="2516"/>
                </a:lnTo>
                <a:lnTo>
                  <a:pt x="416000" y="758"/>
                </a:lnTo>
                <a:lnTo>
                  <a:pt x="432000" y="949"/>
                </a:lnTo>
                <a:lnTo>
                  <a:pt x="448000" y="2664"/>
                </a:lnTo>
                <a:lnTo>
                  <a:pt x="464000" y="5011"/>
                </a:lnTo>
                <a:lnTo>
                  <a:pt x="480000" y="6923"/>
                </a:lnTo>
                <a:lnTo>
                  <a:pt x="496000" y="7589"/>
                </a:lnTo>
                <a:lnTo>
                  <a:pt x="512000" y="6772"/>
                </a:lnTo>
                <a:lnTo>
                  <a:pt x="528000" y="4855"/>
                </a:lnTo>
                <a:lnTo>
                  <a:pt x="544000" y="2608"/>
                </a:lnTo>
                <a:lnTo>
                  <a:pt x="560000" y="821"/>
                </a:lnTo>
                <a:lnTo>
                  <a:pt x="576000" y="0"/>
                </a:lnTo>
                <a:lnTo>
                  <a:pt x="592000" y="225"/>
                </a:lnTo>
                <a:lnTo>
                  <a:pt x="608000" y="1194"/>
                </a:lnTo>
                <a:lnTo>
                  <a:pt x="624000" y="2411"/>
                </a:lnTo>
                <a:lnTo>
                  <a:pt x="640000" y="3418"/>
                </a:lnTo>
                <a:lnTo>
                  <a:pt x="656000" y="3972"/>
                </a:lnTo>
                <a:lnTo>
                  <a:pt x="672000" y="4091"/>
                </a:lnTo>
                <a:lnTo>
                  <a:pt x="688000" y="3986"/>
                </a:lnTo>
                <a:lnTo>
                  <a:pt x="704000" y="3916"/>
                </a:lnTo>
                <a:lnTo>
                  <a:pt x="720000" y="4051"/>
                </a:lnTo>
                <a:lnTo>
                  <a:pt x="736000" y="4393"/>
                </a:lnTo>
                <a:lnTo>
                  <a:pt x="752000" y="4806"/>
                </a:lnTo>
                <a:lnTo>
                  <a:pt x="768000" y="5110"/>
                </a:lnTo>
                <a:lnTo>
                  <a:pt x="784000" y="5197"/>
                </a:lnTo>
                <a:lnTo>
                  <a:pt x="800000" y="5197"/>
                </a:lnTo>
                <a:lnTo>
                  <a:pt x="815999" y="5094"/>
                </a:lnTo>
                <a:lnTo>
                  <a:pt x="832000" y="4943"/>
                </a:lnTo>
                <a:lnTo>
                  <a:pt x="848000" y="4932"/>
                </a:lnTo>
                <a:lnTo>
                  <a:pt x="864000" y="5207"/>
                </a:lnTo>
                <a:lnTo>
                  <a:pt x="880000" y="5808"/>
                </a:lnTo>
                <a:lnTo>
                  <a:pt x="896000" y="6671"/>
                </a:lnTo>
                <a:lnTo>
                  <a:pt x="912000" y="7667"/>
                </a:lnTo>
                <a:lnTo>
                  <a:pt x="928000" y="8675"/>
                </a:lnTo>
                <a:lnTo>
                  <a:pt x="944000" y="9637"/>
                </a:lnTo>
                <a:lnTo>
                  <a:pt x="960000" y="10570"/>
                </a:lnTo>
                <a:lnTo>
                  <a:pt x="976000" y="11539"/>
                </a:lnTo>
                <a:lnTo>
                  <a:pt x="992000" y="12600"/>
                </a:lnTo>
                <a:lnTo>
                  <a:pt x="1008000" y="13749"/>
                </a:lnTo>
                <a:lnTo>
                  <a:pt x="1024000" y="14911"/>
                </a:lnTo>
                <a:lnTo>
                  <a:pt x="1040000" y="15961"/>
                </a:lnTo>
                <a:lnTo>
                  <a:pt x="1056000" y="16782"/>
                </a:lnTo>
                <a:lnTo>
                  <a:pt x="1072000" y="17315"/>
                </a:lnTo>
                <a:lnTo>
                  <a:pt x="1088000" y="17586"/>
                </a:lnTo>
                <a:lnTo>
                  <a:pt x="1104000" y="17687"/>
                </a:lnTo>
                <a:lnTo>
                  <a:pt x="1120000" y="17733"/>
                </a:lnTo>
                <a:lnTo>
                  <a:pt x="1136000" y="17808"/>
                </a:lnTo>
                <a:lnTo>
                  <a:pt x="1152000" y="17940"/>
                </a:lnTo>
                <a:lnTo>
                  <a:pt x="1168000" y="18100"/>
                </a:lnTo>
                <a:lnTo>
                  <a:pt x="1184000" y="18229"/>
                </a:lnTo>
                <a:lnTo>
                  <a:pt x="1200000" y="18229"/>
                </a:lnTo>
                <a:lnTo>
                  <a:pt x="1216000" y="18276"/>
                </a:lnTo>
                <a:lnTo>
                  <a:pt x="1232000" y="18229"/>
                </a:lnTo>
                <a:lnTo>
                  <a:pt x="1247999" y="18120"/>
                </a:lnTo>
                <a:lnTo>
                  <a:pt x="1264000" y="18009"/>
                </a:lnTo>
                <a:lnTo>
                  <a:pt x="1280000" y="17947"/>
                </a:lnTo>
                <a:lnTo>
                  <a:pt x="1296000" y="17961"/>
                </a:lnTo>
                <a:lnTo>
                  <a:pt x="1312000" y="18032"/>
                </a:lnTo>
                <a:lnTo>
                  <a:pt x="1328000" y="18116"/>
                </a:lnTo>
                <a:lnTo>
                  <a:pt x="1344000" y="18160"/>
                </a:lnTo>
                <a:lnTo>
                  <a:pt x="1360000" y="18134"/>
                </a:lnTo>
                <a:lnTo>
                  <a:pt x="1376000" y="18042"/>
                </a:lnTo>
                <a:lnTo>
                  <a:pt x="1391999" y="17921"/>
                </a:lnTo>
                <a:lnTo>
                  <a:pt x="1408000" y="17823"/>
                </a:lnTo>
                <a:lnTo>
                  <a:pt x="1424000" y="17788"/>
                </a:lnTo>
                <a:lnTo>
                  <a:pt x="1440000" y="17830"/>
                </a:lnTo>
                <a:lnTo>
                  <a:pt x="1456000" y="17928"/>
                </a:lnTo>
                <a:lnTo>
                  <a:pt x="1472000" y="18034"/>
                </a:lnTo>
                <a:lnTo>
                  <a:pt x="1488000" y="18098"/>
                </a:lnTo>
                <a:lnTo>
                  <a:pt x="1504000" y="18082"/>
                </a:lnTo>
                <a:lnTo>
                  <a:pt x="1520000" y="17983"/>
                </a:lnTo>
                <a:lnTo>
                  <a:pt x="1536000" y="17840"/>
                </a:lnTo>
                <a:lnTo>
                  <a:pt x="1552000" y="17726"/>
                </a:lnTo>
                <a:lnTo>
                  <a:pt x="1568000" y="17738"/>
                </a:lnTo>
                <a:lnTo>
                  <a:pt x="1584000" y="17985"/>
                </a:lnTo>
              </a:path>
            </a:pathLst>
          </a:custGeom>
          <a:noFill/>
          <a:ln w="1524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2484000" y="2176719"/>
            <a:ext cx="1584000" cy="630709"/>
          </a:xfrm>
          <a:custGeom>
            <a:avLst/>
            <a:gdLst/>
            <a:ahLst/>
            <a:cxnLst/>
            <a:rect l="l" t="t" r="r" b="b"/>
            <a:pathLst>
              <a:path w="1584000" h="630709">
                <a:moveTo>
                  <a:pt x="0" y="630709"/>
                </a:moveTo>
                <a:lnTo>
                  <a:pt x="16000" y="629340"/>
                </a:lnTo>
                <a:lnTo>
                  <a:pt x="32000" y="625551"/>
                </a:lnTo>
                <a:lnTo>
                  <a:pt x="48000" y="616921"/>
                </a:lnTo>
                <a:lnTo>
                  <a:pt x="64000" y="601098"/>
                </a:lnTo>
                <a:lnTo>
                  <a:pt x="80000" y="577705"/>
                </a:lnTo>
                <a:lnTo>
                  <a:pt x="96000" y="548786"/>
                </a:lnTo>
                <a:lnTo>
                  <a:pt x="112000" y="516495"/>
                </a:lnTo>
                <a:lnTo>
                  <a:pt x="128000" y="480432"/>
                </a:lnTo>
                <a:lnTo>
                  <a:pt x="144000" y="437150"/>
                </a:lnTo>
                <a:lnTo>
                  <a:pt x="160000" y="381969"/>
                </a:lnTo>
                <a:lnTo>
                  <a:pt x="176000" y="312567"/>
                </a:lnTo>
                <a:lnTo>
                  <a:pt x="192000" y="233230"/>
                </a:lnTo>
                <a:lnTo>
                  <a:pt x="208000" y="155413"/>
                </a:lnTo>
                <a:lnTo>
                  <a:pt x="224000" y="91341"/>
                </a:lnTo>
                <a:lnTo>
                  <a:pt x="240000" y="46858"/>
                </a:lnTo>
                <a:lnTo>
                  <a:pt x="256000" y="21005"/>
                </a:lnTo>
                <a:lnTo>
                  <a:pt x="272000" y="9680"/>
                </a:lnTo>
                <a:lnTo>
                  <a:pt x="288000" y="8157"/>
                </a:lnTo>
                <a:lnTo>
                  <a:pt x="304000" y="11715"/>
                </a:lnTo>
                <a:lnTo>
                  <a:pt x="320000" y="15908"/>
                </a:lnTo>
                <a:lnTo>
                  <a:pt x="336000" y="17435"/>
                </a:lnTo>
                <a:lnTo>
                  <a:pt x="352000" y="15131"/>
                </a:lnTo>
                <a:lnTo>
                  <a:pt x="368000" y="10084"/>
                </a:lnTo>
                <a:lnTo>
                  <a:pt x="384000" y="4614"/>
                </a:lnTo>
                <a:lnTo>
                  <a:pt x="400000" y="4614"/>
                </a:lnTo>
                <a:lnTo>
                  <a:pt x="416000" y="889"/>
                </a:lnTo>
                <a:lnTo>
                  <a:pt x="432000" y="0"/>
                </a:lnTo>
                <a:lnTo>
                  <a:pt x="448000" y="1726"/>
                </a:lnTo>
                <a:lnTo>
                  <a:pt x="464000" y="4790"/>
                </a:lnTo>
                <a:lnTo>
                  <a:pt x="480000" y="7482"/>
                </a:lnTo>
                <a:lnTo>
                  <a:pt x="496000" y="8476"/>
                </a:lnTo>
                <a:lnTo>
                  <a:pt x="512000" y="7464"/>
                </a:lnTo>
                <a:lnTo>
                  <a:pt x="528000" y="5212"/>
                </a:lnTo>
                <a:lnTo>
                  <a:pt x="544000" y="3019"/>
                </a:lnTo>
                <a:lnTo>
                  <a:pt x="560000" y="1982"/>
                </a:lnTo>
                <a:lnTo>
                  <a:pt x="576000" y="2490"/>
                </a:lnTo>
                <a:lnTo>
                  <a:pt x="592000" y="4120"/>
                </a:lnTo>
                <a:lnTo>
                  <a:pt x="608000" y="5915"/>
                </a:lnTo>
                <a:lnTo>
                  <a:pt x="624000" y="6912"/>
                </a:lnTo>
                <a:lnTo>
                  <a:pt x="640000" y="6660"/>
                </a:lnTo>
                <a:lnTo>
                  <a:pt x="656000" y="5437"/>
                </a:lnTo>
                <a:lnTo>
                  <a:pt x="672000" y="4027"/>
                </a:lnTo>
                <a:lnTo>
                  <a:pt x="688000" y="3222"/>
                </a:lnTo>
                <a:lnTo>
                  <a:pt x="704000" y="3375"/>
                </a:lnTo>
                <a:lnTo>
                  <a:pt x="720000" y="4235"/>
                </a:lnTo>
                <a:lnTo>
                  <a:pt x="736000" y="5137"/>
                </a:lnTo>
                <a:lnTo>
                  <a:pt x="752000" y="5474"/>
                </a:lnTo>
                <a:lnTo>
                  <a:pt x="768000" y="5232"/>
                </a:lnTo>
                <a:lnTo>
                  <a:pt x="784000" y="5263"/>
                </a:lnTo>
                <a:lnTo>
                  <a:pt x="800000" y="5263"/>
                </a:lnTo>
                <a:lnTo>
                  <a:pt x="815999" y="7175"/>
                </a:lnTo>
                <a:lnTo>
                  <a:pt x="832000" y="12939"/>
                </a:lnTo>
                <a:lnTo>
                  <a:pt x="848000" y="24490"/>
                </a:lnTo>
                <a:lnTo>
                  <a:pt x="864000" y="43418"/>
                </a:lnTo>
                <a:lnTo>
                  <a:pt x="880000" y="70700"/>
                </a:lnTo>
                <a:lnTo>
                  <a:pt x="896000" y="106449"/>
                </a:lnTo>
                <a:lnTo>
                  <a:pt x="912000" y="149846"/>
                </a:lnTo>
                <a:lnTo>
                  <a:pt x="928000" y="199417"/>
                </a:lnTo>
                <a:lnTo>
                  <a:pt x="944000" y="253491"/>
                </a:lnTo>
                <a:lnTo>
                  <a:pt x="960000" y="310350"/>
                </a:lnTo>
                <a:lnTo>
                  <a:pt x="976000" y="367918"/>
                </a:lnTo>
                <a:lnTo>
                  <a:pt x="992000" y="423399"/>
                </a:lnTo>
                <a:lnTo>
                  <a:pt x="1008000" y="473548"/>
                </a:lnTo>
                <a:lnTo>
                  <a:pt x="1024000" y="515655"/>
                </a:lnTo>
                <a:lnTo>
                  <a:pt x="1040000" y="548502"/>
                </a:lnTo>
                <a:lnTo>
                  <a:pt x="1056000" y="572525"/>
                </a:lnTo>
                <a:lnTo>
                  <a:pt x="1072000" y="589220"/>
                </a:lnTo>
                <a:lnTo>
                  <a:pt x="1088000" y="600377"/>
                </a:lnTo>
                <a:lnTo>
                  <a:pt x="1104000" y="607583"/>
                </a:lnTo>
                <a:lnTo>
                  <a:pt x="1120000" y="612041"/>
                </a:lnTo>
                <a:lnTo>
                  <a:pt x="1136000" y="614578"/>
                </a:lnTo>
                <a:lnTo>
                  <a:pt x="1152000" y="615737"/>
                </a:lnTo>
                <a:lnTo>
                  <a:pt x="1168000" y="615880"/>
                </a:lnTo>
                <a:lnTo>
                  <a:pt x="1184000" y="615305"/>
                </a:lnTo>
                <a:lnTo>
                  <a:pt x="1200000" y="615305"/>
                </a:lnTo>
                <a:lnTo>
                  <a:pt x="1216000" y="614333"/>
                </a:lnTo>
                <a:lnTo>
                  <a:pt x="1232000" y="613355"/>
                </a:lnTo>
                <a:lnTo>
                  <a:pt x="1247999" y="612753"/>
                </a:lnTo>
                <a:lnTo>
                  <a:pt x="1264000" y="612751"/>
                </a:lnTo>
                <a:lnTo>
                  <a:pt x="1280000" y="613297"/>
                </a:lnTo>
                <a:lnTo>
                  <a:pt x="1296000" y="614110"/>
                </a:lnTo>
                <a:lnTo>
                  <a:pt x="1312000" y="614847"/>
                </a:lnTo>
                <a:lnTo>
                  <a:pt x="1328000" y="615246"/>
                </a:lnTo>
                <a:lnTo>
                  <a:pt x="1344000" y="615199"/>
                </a:lnTo>
                <a:lnTo>
                  <a:pt x="1360000" y="614747"/>
                </a:lnTo>
                <a:lnTo>
                  <a:pt x="1376000" y="614070"/>
                </a:lnTo>
                <a:lnTo>
                  <a:pt x="1391999" y="613440"/>
                </a:lnTo>
                <a:lnTo>
                  <a:pt x="1408000" y="613118"/>
                </a:lnTo>
                <a:lnTo>
                  <a:pt x="1424000" y="613237"/>
                </a:lnTo>
                <a:lnTo>
                  <a:pt x="1440000" y="613721"/>
                </a:lnTo>
                <a:lnTo>
                  <a:pt x="1456000" y="614341"/>
                </a:lnTo>
                <a:lnTo>
                  <a:pt x="1472000" y="614832"/>
                </a:lnTo>
                <a:lnTo>
                  <a:pt x="1488000" y="614992"/>
                </a:lnTo>
                <a:lnTo>
                  <a:pt x="1504000" y="614741"/>
                </a:lnTo>
                <a:lnTo>
                  <a:pt x="1520000" y="614147"/>
                </a:lnTo>
                <a:lnTo>
                  <a:pt x="1536000" y="613445"/>
                </a:lnTo>
                <a:lnTo>
                  <a:pt x="1552000" y="613053"/>
                </a:lnTo>
                <a:lnTo>
                  <a:pt x="1568000" y="613483"/>
                </a:lnTo>
                <a:lnTo>
                  <a:pt x="1584000" y="615125"/>
                </a:lnTo>
              </a:path>
            </a:pathLst>
          </a:custGeom>
          <a:noFill/>
          <a:ln w="15240">
            <a:solidFill>
              <a:srgbClr val="C65A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12000" y="2826000"/>
            <a:ext cx="144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43442"/>
                </a:solidFill>
                <a:latin typeface="DejaVu Sans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96000" y="2826000"/>
            <a:ext cx="144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43442"/>
                </a:solidFill>
                <a:latin typeface="DejaVu Sans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08000" y="2970000"/>
            <a:ext cx="1584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43442"/>
                </a:solidFill>
                <a:latin typeface="DejaVu Sans"/>
              </a:rPr>
              <a:t>Phase-normalized progress 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92000" y="1926000"/>
            <a:ext cx="864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0072B2"/>
                </a:solidFill>
                <a:latin typeface="DejaVu Sans"/>
              </a:rPr>
              <a:t>Translation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2000" y="2574000"/>
            <a:ext cx="576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C65A29"/>
                </a:solidFill>
                <a:latin typeface="DejaVu Sans"/>
              </a:rPr>
              <a:t>Yaw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50000" y="3114000"/>
            <a:ext cx="1980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243442"/>
                </a:solidFill>
                <a:latin typeface="DejaVu Sans"/>
              </a:rPr>
              <a:t>Recorded source fit · selected channels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08000" y="792000"/>
            <a:ext cx="1656000" cy="360000"/>
          </a:xfrm>
          <a:prstGeom prst="rect">
            <a:avLst/>
          </a:prstGeom>
          <a:solidFill>
            <a:srgbClr val="FFFFFF"/>
          </a:solidFill>
          <a:ln w="1143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44000" y="882000"/>
            <a:ext cx="1584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0072B2"/>
                </a:solidFill>
                <a:latin typeface="DejaVu Sans"/>
              </a:rPr>
              <a:t>Frozen source law  Psrc(s)</a:t>
            </a:r>
          </a:p>
        </p:txBody>
      </p:sp>
      <p:sp>
        <p:nvSpPr>
          <p:cNvPr id="64" name="Freeform 63"/>
          <p:cNvSpPr/>
          <p:nvPr/>
        </p:nvSpPr>
        <p:spPr>
          <a:xfrm>
            <a:off x="5436000" y="1152000"/>
            <a:ext cx="0" cy="180000"/>
          </a:xfrm>
          <a:custGeom>
            <a:avLst/>
            <a:gdLst/>
            <a:ahLst/>
            <a:cxnLst/>
            <a:rect l="l" t="t" r="r" b="b"/>
            <a:pathLst>
              <a:path w="0" h="180000">
                <a:moveTo>
                  <a:pt x="0" y="0"/>
                </a:moveTo>
                <a:lnTo>
                  <a:pt x="0" y="180000"/>
                </a:lnTo>
              </a:path>
            </a:pathLst>
          </a:custGeom>
          <a:noFill/>
          <a:ln w="11430">
            <a:solidFill>
              <a:srgbClr val="0072B2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36000" y="1386000"/>
            <a:ext cx="1800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3442"/>
                </a:solidFill>
                <a:latin typeface="DejaVu Sans"/>
              </a:rPr>
              <a:t>One target reference X₀,tgt(s)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36000" y="1638000"/>
            <a:ext cx="1800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3442"/>
                </a:solidFill>
                <a:latin typeface="DejaVu Sans"/>
              </a:rPr>
              <a:t>+ target relation change ctgt</a:t>
            </a:r>
          </a:p>
        </p:txBody>
      </p:sp>
      <p:sp>
        <p:nvSpPr>
          <p:cNvPr id="67" name="Freeform 66"/>
          <p:cNvSpPr/>
          <p:nvPr/>
        </p:nvSpPr>
        <p:spPr>
          <a:xfrm>
            <a:off x="5436000" y="1872000"/>
            <a:ext cx="0" cy="180000"/>
          </a:xfrm>
          <a:custGeom>
            <a:avLst/>
            <a:gdLst/>
            <a:ahLst/>
            <a:cxnLst/>
            <a:rect l="l" t="t" r="r" b="b"/>
            <a:pathLst>
              <a:path w="0" h="180000">
                <a:moveTo>
                  <a:pt x="0" y="0"/>
                </a:moveTo>
                <a:lnTo>
                  <a:pt x="0" y="180000"/>
                </a:lnTo>
              </a:path>
            </a:pathLst>
          </a:custGeom>
          <a:noFill/>
          <a:ln w="11430">
            <a:solidFill>
              <a:srgbClr val="74818C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4680000" y="2736000"/>
            <a:ext cx="1548000" cy="0"/>
          </a:xfrm>
          <a:custGeom>
            <a:avLst/>
            <a:gdLst/>
            <a:ahLst/>
            <a:cxnLst/>
            <a:rect l="l" t="t" r="r" b="b"/>
            <a:pathLst>
              <a:path w="1548000" h="0">
                <a:moveTo>
                  <a:pt x="0" y="0"/>
                </a:moveTo>
                <a:lnTo>
                  <a:pt x="1548000" y="0"/>
                </a:lnTo>
              </a:path>
            </a:pathLst>
          </a:custGeom>
          <a:noFill/>
          <a:ln w="7620">
            <a:solidFill>
              <a:srgbClr val="ADB8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44000" y="2628000"/>
            <a:ext cx="288000" cy="144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748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940000" y="2520000"/>
            <a:ext cx="288000" cy="1440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4932000" y="2124000"/>
            <a:ext cx="756000" cy="540000"/>
          </a:xfrm>
          <a:custGeom>
            <a:avLst/>
            <a:gdLst/>
            <a:ahLst/>
            <a:cxnLst/>
            <a:rect l="l" t="t" r="r" b="b"/>
            <a:pathLst>
              <a:path w="756000" h="540000">
                <a:moveTo>
                  <a:pt x="0" y="0"/>
                </a:moveTo>
                <a:lnTo>
                  <a:pt x="72000" y="216000"/>
                </a:lnTo>
                <a:lnTo>
                  <a:pt x="396000" y="360000"/>
                </a:lnTo>
                <a:lnTo>
                  <a:pt x="756000" y="540000"/>
                </a:lnTo>
              </a:path>
            </a:pathLst>
          </a:custGeom>
          <a:noFill/>
          <a:ln w="12700">
            <a:solidFill>
              <a:srgbClr val="7481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4932000" y="2124000"/>
            <a:ext cx="1152000" cy="432000"/>
          </a:xfrm>
          <a:custGeom>
            <a:avLst/>
            <a:gdLst/>
            <a:ahLst/>
            <a:cxnLst/>
            <a:rect l="l" t="t" r="r" b="b"/>
            <a:pathLst>
              <a:path w="1152000" h="432000">
                <a:moveTo>
                  <a:pt x="0" y="0"/>
                </a:moveTo>
                <a:lnTo>
                  <a:pt x="252000" y="36000"/>
                </a:lnTo>
                <a:lnTo>
                  <a:pt x="792000" y="144000"/>
                </a:lnTo>
                <a:lnTo>
                  <a:pt x="1152000" y="432000"/>
                </a:lnTo>
              </a:path>
            </a:pathLst>
          </a:custGeom>
          <a:noFill/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44000" y="2790000"/>
            <a:ext cx="792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74818C"/>
                </a:solidFill>
                <a:latin typeface="DejaVu Sans"/>
              </a:rPr>
              <a:t>Nominal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24000" y="2790000"/>
            <a:ext cx="792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0072B2"/>
                </a:solidFill>
                <a:latin typeface="DejaVu Sans"/>
              </a:rPr>
              <a:t>Adapted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46000" y="3006000"/>
            <a:ext cx="1980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243442"/>
                </a:solidFill>
                <a:latin typeface="DejaVu Sans"/>
              </a:rPr>
              <a:t>Trajectory schematic; not an execution result</a:t>
            </a:r>
          </a:p>
        </p:txBody>
      </p:sp>
      <p:sp>
        <p:nvSpPr>
          <p:cNvPr id="76" name="Freeform 75"/>
          <p:cNvSpPr/>
          <p:nvPr/>
        </p:nvSpPr>
        <p:spPr>
          <a:xfrm>
            <a:off x="108000" y="3276000"/>
            <a:ext cx="6264000" cy="0"/>
          </a:xfrm>
          <a:custGeom>
            <a:avLst/>
            <a:gdLst/>
            <a:ahLst/>
            <a:cxnLst/>
            <a:rect l="l" t="t" r="r" b="b"/>
            <a:pathLst>
              <a:path w="6264000" h="0">
                <a:moveTo>
                  <a:pt x="0" y="0"/>
                </a:moveTo>
                <a:lnTo>
                  <a:pt x="6264000" y="0"/>
                </a:lnTo>
              </a:path>
            </a:pathLst>
          </a:custGeom>
          <a:noFill/>
          <a:ln w="762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8000" y="3294000"/>
            <a:ext cx="6264000" cy="180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243442"/>
                </a:solidFill>
                <a:latin typeface="DejaVu Sans"/>
              </a:rPr>
              <a:t>Transfer requires matched generator semantics and specified progress alignment.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